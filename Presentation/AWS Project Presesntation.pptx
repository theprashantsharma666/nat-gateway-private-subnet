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281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36415" cy="6858000"/>
          </a:xfrm>
          <a:prstGeom prst="rect">
            <a:avLst/>
          </a:prstGeom>
          <a:solidFill>
            <a:srgbClr val="132A46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0" cy="6858000"/>
          </a:xfrm>
          <a:prstGeom prst="line">
            <a:avLst/>
          </a:prstGeom>
          <a:noFill/>
          <a:ln w="12700">
            <a:solidFill>
              <a:srgbClr val="1D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0"/>
            <a:ext cx="0" cy="6858000"/>
          </a:xfrm>
          <a:prstGeom prst="line">
            <a:avLst/>
          </a:prstGeom>
          <a:noFill/>
          <a:ln w="12700">
            <a:solidFill>
              <a:srgbClr val="1D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12700">
            <a:solidFill>
              <a:srgbClr val="1D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5560" y="0"/>
            <a:ext cx="0" cy="6858000"/>
          </a:xfrm>
          <a:prstGeom prst="line">
            <a:avLst/>
          </a:prstGeom>
          <a:noFill/>
          <a:ln w="12700">
            <a:solidFill>
              <a:srgbClr val="1D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12700">
            <a:solidFill>
              <a:srgbClr val="1D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503920" y="731520"/>
            <a:ext cx="1188720" cy="36576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0" y="731520"/>
            <a:ext cx="1188720" cy="73152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1097280"/>
            <a:ext cx="365760" cy="137160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0" y="2468880"/>
            <a:ext cx="1463040" cy="36576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0" y="731520"/>
            <a:ext cx="640080" cy="210312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2468880"/>
            <a:ext cx="365760" cy="146304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0" y="2834640"/>
            <a:ext cx="640080" cy="137160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8595360" y="3931920"/>
            <a:ext cx="640080" cy="109728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0058400" y="4206240"/>
            <a:ext cx="914400" cy="118872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3931920"/>
            <a:ext cx="822960" cy="146304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5029200"/>
            <a:ext cx="457200" cy="109728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5394960"/>
            <a:ext cx="731520" cy="91440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105156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Shape 19"/>
          <p:cNvSpPr/>
          <p:nvPr/>
        </p:nvSpPr>
        <p:spPr>
          <a:xfrm>
            <a:off x="9646920" y="68580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35640" y="141732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8823960" y="242316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7000" y="278892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Shape 23"/>
          <p:cNvSpPr/>
          <p:nvPr/>
        </p:nvSpPr>
        <p:spPr>
          <a:xfrm>
            <a:off x="9189720" y="388620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27080" y="416052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549640" y="498348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12680" y="534924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9" name="Shape 27"/>
          <p:cNvSpPr/>
          <p:nvPr/>
        </p:nvSpPr>
        <p:spPr>
          <a:xfrm>
            <a:off x="9006840" y="608076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44200" y="626364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1" y="1483101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NETWORKING PROJECT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7180" y="1935636"/>
            <a:ext cx="7132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a NAT Gateway for Secure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Subnet Internet Access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335586" y="3794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outbound-only internet connectivity for Amazon EC2 instances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a private subnet, using a custom-built VPC, NAT Gateway,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layered routing and security architecture.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80061" y="4952689"/>
            <a:ext cx="100584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4"/>
          <p:cNvSpPr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EFA981-3FEE-7A11-12ED-68C3A8248D53}"/>
              </a:ext>
            </a:extLst>
          </p:cNvPr>
          <p:cNvSpPr txBox="1"/>
          <p:nvPr/>
        </p:nvSpPr>
        <p:spPr>
          <a:xfrm>
            <a:off x="409150" y="5094982"/>
            <a:ext cx="60975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Tushit Mishra (2415001691)</a:t>
            </a:r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Sharma (2415001154)</a:t>
            </a:r>
            <a:endParaRPr lang="en-US" sz="1600" dirty="0"/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Jaisawat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(2415000495)</a:t>
            </a:r>
          </a:p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Skand Singh (2415001577)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Problem Statement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325880" y="1947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private subnet needs controlled internet access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34924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9748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25880" y="29992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VPC, subnets, gateways &amp; traffic flow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534924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258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325880" y="40507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the design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34924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80060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Workflow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25880" y="51023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build sequence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164592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3232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32320" y="1947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vs. private route tables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2514600"/>
            <a:ext cx="534924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69748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13232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Design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2320" y="29992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Layered, bastion-style access control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3566160"/>
            <a:ext cx="534924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74904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13232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132320" y="40507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outbound access &amp; inbound isolation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4617720"/>
            <a:ext cx="534924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800600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7D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3232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1023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 and next steps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NAT Gateway inside a public subnet and configure routing so that an EC2 instance in a </a:t>
            </a: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reach the internet for outbound tasks (e.g. software updates) </a:t>
            </a:r>
            <a:r>
              <a:rPr lang="en-US" sz="135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being directly reachable from the internet.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4846320" cy="0"/>
          </a:xfrm>
          <a:prstGeom prst="line">
            <a:avLst/>
          </a:prstGeom>
          <a:noFill/>
          <a:ln w="12700">
            <a:solidFill>
              <a:srgbClr val="E4E9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986784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7705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EC2 instance downloads packages via yum successfully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471416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3616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EC2 instance has no public IPv4 address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956048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46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inbound SSH from the internet to the private instance times out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5440680"/>
            <a:ext cx="118872" cy="1188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309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traffic is routed only through the NAT Gateway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32A46"/>
          </a:solidFill>
          <a:ln/>
          <a:effectLst>
            <a:outerShdw blurRad="127000" dist="38100" dir="5400000" algn="bl" rotWithShape="0">
              <a:srgbClr val="132A46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conflicting requirements — one instance: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26060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62828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60604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23760" y="25877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stay isolated — no inbound access from the public internet, for security.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33756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E7D32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333756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23760" y="331927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outbound access — to fetch OS patches and packages.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114800"/>
            <a:ext cx="4754880" cy="0"/>
          </a:xfrm>
          <a:prstGeom prst="line">
            <a:avLst/>
          </a:prstGeom>
          <a:noFill/>
          <a:ln w="12700">
            <a:solidFill>
              <a:srgbClr val="2B44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2793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45720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 Gateway, placed in the public subnet, translates the private instance's outbound requests to its own Elastic IP — allowing traffic out, while the route tables and security groups ensure nothing unsolicited gets in.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VPC Architecture &amp; Traffic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20640" y="1417320"/>
            <a:ext cx="1645920" cy="566928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14173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1115568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9050">
            <a:solidFill>
              <a:srgbClr val="4A6FA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•  myVPC  •  10.0.0.0/16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5212080" cy="3154680"/>
          </a:xfrm>
          <a:prstGeom prst="roundRect">
            <a:avLst>
              <a:gd name="adj" fmla="val 1449"/>
            </a:avLst>
          </a:prstGeom>
          <a:solidFill>
            <a:srgbClr val="E3EAF4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249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 •  10.0.1.0/24  •  ap-south-1a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2606040"/>
            <a:ext cx="5166360" cy="3154680"/>
          </a:xfrm>
          <a:prstGeom prst="roundRect">
            <a:avLst>
              <a:gd name="adj" fmla="val 1449"/>
            </a:avLst>
          </a:prstGeom>
          <a:solidFill>
            <a:srgbClr val="FCEFE3"/>
          </a:solidFill>
          <a:ln w="12700">
            <a:solidFill>
              <a:srgbClr val="CC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72491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 •  10.0.2.0/24  •  ap-south-1b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88720" y="31089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3108960"/>
            <a:ext cx="548640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30906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myIGW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88720" y="38404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F99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3840480"/>
            <a:ext cx="548640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28800" y="38221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MyNATGateway + Elastic 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188720" y="48920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4892040"/>
            <a:ext cx="548640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28800" y="487375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PublicEC2</a:t>
            </a:r>
            <a:endParaRPr lang="en-US" sz="1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+ Private IP (bastion)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0" y="41605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CC7A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52560" y="4160520"/>
            <a:ext cx="548640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52560" y="473659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PrivateEC2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 — private IP only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2286000" y="1984248"/>
            <a:ext cx="2468880" cy="1097280"/>
          </a:xfrm>
          <a:prstGeom prst="line">
            <a:avLst/>
          </a:prstGeom>
          <a:noFill/>
          <a:ln w="25400">
            <a:solidFill>
              <a:srgbClr val="132A46"/>
            </a:solidFill>
            <a:prstDash val="solid"/>
            <a:headEnd type="triangl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463040" y="3657600"/>
            <a:ext cx="0" cy="1828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017520" y="4114800"/>
            <a:ext cx="6035040" cy="274320"/>
          </a:xfrm>
          <a:prstGeom prst="line">
            <a:avLst/>
          </a:prstGeom>
          <a:noFill/>
          <a:ln w="28575">
            <a:solidFill>
              <a:srgbClr val="CC7A0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572000" y="3794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traffic (yum, ping)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3017520" y="4297680"/>
            <a:ext cx="6035040" cy="320040"/>
          </a:xfrm>
          <a:prstGeom prst="line">
            <a:avLst/>
          </a:prstGeom>
          <a:noFill/>
          <a:ln w="15875">
            <a:solidFill>
              <a:srgbClr val="4A6FA5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3017520" y="4681728"/>
            <a:ext cx="6035040" cy="457200"/>
          </a:xfrm>
          <a:prstGeom prst="line">
            <a:avLst/>
          </a:prstGeom>
          <a:noFill/>
          <a:ln w="19050">
            <a:solidFill>
              <a:srgbClr val="132A46"/>
            </a:solidFill>
            <a:prstDash val="lgDash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663440" y="52303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bastion hop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49440" y="1947672"/>
            <a:ext cx="2651760" cy="658368"/>
          </a:xfrm>
          <a:prstGeom prst="line">
            <a:avLst/>
          </a:prstGeom>
          <a:noFill/>
          <a:ln w="25400">
            <a:solidFill>
              <a:srgbClr val="C62828"/>
            </a:solidFill>
            <a:prstDash val="sys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409176" y="14173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C62828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409176" y="1417320"/>
            <a:ext cx="384048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21040" y="18288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inbound blocked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6108192"/>
            <a:ext cx="320040" cy="0"/>
          </a:xfrm>
          <a:prstGeom prst="line">
            <a:avLst/>
          </a:prstGeom>
          <a:noFill/>
          <a:ln w="28575">
            <a:solidFill>
              <a:srgbClr val="CC7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5989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path (via NAT)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91840" y="6108192"/>
            <a:ext cx="320040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ysDash"/>
          </a:ln>
        </p:spPr>
      </p:sp>
      <p:sp>
        <p:nvSpPr>
          <p:cNvPr id="38" name="Text 36"/>
          <p:cNvSpPr/>
          <p:nvPr/>
        </p:nvSpPr>
        <p:spPr>
          <a:xfrm>
            <a:off x="3657600" y="5989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inbound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94960" y="6108192"/>
            <a:ext cx="320040" cy="0"/>
          </a:xfrm>
          <a:prstGeom prst="line">
            <a:avLst/>
          </a:prstGeom>
          <a:noFill/>
          <a:ln w="19050">
            <a:solidFill>
              <a:srgbClr val="132A46"/>
            </a:solidFill>
            <a:prstDash val="lgDash"/>
          </a:ln>
        </p:spPr>
      </p:sp>
      <p:sp>
        <p:nvSpPr>
          <p:cNvPr id="40" name="Text 38"/>
          <p:cNvSpPr/>
          <p:nvPr/>
        </p:nvSpPr>
        <p:spPr>
          <a:xfrm>
            <a:off x="5760720" y="5989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bastion hop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&amp; Components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928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92808"/>
            <a:ext cx="56692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VPC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852928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10.0.0.0/16 virtual network hosting all subnets and routing.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55848" y="169164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7016" y="18928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57016" y="1892808"/>
            <a:ext cx="56692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57016" y="256032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57016" y="2852928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(10.0.1.0/24) and private (10.0.2.0/24) subnets across two AZs.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63056" y="169164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64224" y="18928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1892808"/>
            <a:ext cx="56692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64224" y="256032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2852928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the VPC to allow the public subnet to reach the internet.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8970264" y="169164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432" y="18928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71432" y="1892808"/>
            <a:ext cx="56692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71432" y="256032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71432" y="2852928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public and private tables controlling traffic paths per subnet.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CC7A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" y="4041648"/>
            <a:ext cx="56692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" y="470916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IP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5001768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public IP allocated and attached to the NAT Gateway.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355848" y="384048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57016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CC7A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57016" y="4041648"/>
            <a:ext cx="56692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557016" y="470916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557016" y="5001768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gateway that performs outbound-only address translation.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163056" y="384048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64224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CC7A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64224" y="4041648"/>
            <a:ext cx="56692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64224" y="470916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64224" y="5001768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2023, t3.micro — one public (bastion), one private.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8970264" y="3840480"/>
            <a:ext cx="26974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71432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CC7A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171432" y="4041648"/>
            <a:ext cx="566928" cy="5669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171432" y="4709160"/>
            <a:ext cx="2295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71432" y="5001768"/>
            <a:ext cx="22951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PublicSG and PrivateSG — layered, reference-based inbound rules.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SEQUENCE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Workflow — 5 Phases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634844" y="3063240"/>
            <a:ext cx="25603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68884" y="19659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8884" y="196596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32A46"/>
          </a:solidFill>
          <a:ln/>
        </p:spPr>
      </p:sp>
      <p:sp>
        <p:nvSpPr>
          <p:cNvPr id="7" name="Shape 5"/>
          <p:cNvSpPr/>
          <p:nvPr/>
        </p:nvSpPr>
        <p:spPr>
          <a:xfrm>
            <a:off x="668884" y="2194560"/>
            <a:ext cx="1965960" cy="228600"/>
          </a:xfrm>
          <a:prstGeom prst="rect">
            <a:avLst/>
          </a:prstGeom>
          <a:solidFill>
            <a:srgbClr val="132A46"/>
          </a:solidFill>
          <a:ln/>
        </p:spPr>
      </p:sp>
      <p:sp>
        <p:nvSpPr>
          <p:cNvPr id="8" name="Text 6"/>
          <p:cNvSpPr/>
          <p:nvPr/>
        </p:nvSpPr>
        <p:spPr>
          <a:xfrm>
            <a:off x="668884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0324" y="25146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6044" y="31363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VPC (10.0.0.0/16)</a:t>
            </a:r>
            <a:endParaRPr lang="en-US" sz="9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Public &amp; Private subnets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68884" y="412394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56836" y="3063240"/>
            <a:ext cx="25603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90876" y="19659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90876" y="196596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4A6FA5"/>
          </a:solidFill>
          <a:ln/>
        </p:spPr>
      </p:sp>
      <p:sp>
        <p:nvSpPr>
          <p:cNvPr id="15" name="Shape 13"/>
          <p:cNvSpPr/>
          <p:nvPr/>
        </p:nvSpPr>
        <p:spPr>
          <a:xfrm>
            <a:off x="2890876" y="2194560"/>
            <a:ext cx="1965960" cy="22860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6" name="Text 14"/>
          <p:cNvSpPr/>
          <p:nvPr/>
        </p:nvSpPr>
        <p:spPr>
          <a:xfrm>
            <a:off x="2890876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82316" y="25146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28036" y="31363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attach Internet Gateway</a:t>
            </a:r>
            <a:endParaRPr lang="en-US" sz="9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an Elastic IP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2890876" y="412394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4, 7–8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78828" y="3063240"/>
            <a:ext cx="25603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12868" y="19659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12868" y="196596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6B8FBF"/>
          </a:solidFill>
          <a:ln/>
        </p:spPr>
      </p:sp>
      <p:sp>
        <p:nvSpPr>
          <p:cNvPr id="23" name="Shape 21"/>
          <p:cNvSpPr/>
          <p:nvPr/>
        </p:nvSpPr>
        <p:spPr>
          <a:xfrm>
            <a:off x="5112868" y="2194560"/>
            <a:ext cx="1965960" cy="228600"/>
          </a:xfrm>
          <a:prstGeom prst="rect">
            <a:avLst/>
          </a:prstGeom>
          <a:solidFill>
            <a:srgbClr val="6B8FBF"/>
          </a:solidFill>
          <a:ln/>
        </p:spPr>
      </p:sp>
      <p:sp>
        <p:nvSpPr>
          <p:cNvPr id="24" name="Text 22"/>
          <p:cNvSpPr/>
          <p:nvPr/>
        </p:nvSpPr>
        <p:spPr>
          <a:xfrm>
            <a:off x="5112868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04308" y="25146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250028" y="31363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Public + Private route tables</a:t>
            </a:r>
            <a:endParaRPr lang="en-US" sz="9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each with its subnet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5112868" y="412394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8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00820" y="3063240"/>
            <a:ext cx="256032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34860" y="19659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34860" y="196596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FF99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34860" y="2194560"/>
            <a:ext cx="1965960" cy="228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7334860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26300" y="25146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 Gateway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472020" y="31363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NAT Gateway in public subnet</a:t>
            </a:r>
            <a:endParaRPr lang="en-US" sz="9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Private route table -&gt; NAT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334860" y="412394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9–10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556852" y="1965960"/>
            <a:ext cx="1965960" cy="24688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56852" y="196596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CC7A00"/>
          </a:solidFill>
          <a:ln/>
        </p:spPr>
      </p:sp>
      <p:sp>
        <p:nvSpPr>
          <p:cNvPr id="38" name="Shape 36"/>
          <p:cNvSpPr/>
          <p:nvPr/>
        </p:nvSpPr>
        <p:spPr>
          <a:xfrm>
            <a:off x="9556852" y="2194560"/>
            <a:ext cx="1965960" cy="228600"/>
          </a:xfrm>
          <a:prstGeom prst="rect">
            <a:avLst/>
          </a:prstGeom>
          <a:solidFill>
            <a:srgbClr val="CC7A00"/>
          </a:solidFill>
          <a:ln/>
        </p:spPr>
      </p:sp>
      <p:sp>
        <p:nvSpPr>
          <p:cNvPr id="39" name="Text 37"/>
          <p:cNvSpPr/>
          <p:nvPr/>
        </p:nvSpPr>
        <p:spPr>
          <a:xfrm>
            <a:off x="9556852" y="20574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648292" y="25146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</a:t>
            </a:r>
            <a:endParaRPr lang="en-US" sz="14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9694012" y="3136392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Public + Private EC2</a:t>
            </a:r>
            <a:endParaRPr lang="en-US" sz="93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hop-in, then test connectivity</a:t>
            </a:r>
            <a:endParaRPr lang="en-US" sz="930" dirty="0"/>
          </a:p>
        </p:txBody>
      </p:sp>
      <p:sp>
        <p:nvSpPr>
          <p:cNvPr id="42" name="Text 40"/>
          <p:cNvSpPr/>
          <p:nvPr/>
        </p:nvSpPr>
        <p:spPr>
          <a:xfrm>
            <a:off x="9556852" y="412394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11–17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8884" y="4846320"/>
            <a:ext cx="10853928" cy="1234440"/>
          </a:xfrm>
          <a:prstGeom prst="roundRect">
            <a:avLst>
              <a:gd name="adj" fmla="val 4444"/>
            </a:avLst>
          </a:prstGeom>
          <a:solidFill>
            <a:srgbClr val="132A46"/>
          </a:solidFill>
          <a:ln/>
        </p:spPr>
      </p:sp>
      <p:sp>
        <p:nvSpPr>
          <p:cNvPr id="44" name="Text 42"/>
          <p:cNvSpPr/>
          <p:nvPr/>
        </p:nvSpPr>
        <p:spPr>
          <a:xfrm>
            <a:off x="1034644" y="4846320"/>
            <a:ext cx="101224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guided console steps, from an empty AWS account to a validated, secure private-subnet networking pattern — verified with live outbound and inbound tests.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vs. Private Route Tables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layer is what actually enforces the architecture: both subnets share the same VPC, but each subnet's route table sends unmatched (0.0.0.0/0) traffic to a different target.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132A4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87168"/>
            <a:ext cx="5440680" cy="393192"/>
          </a:xfrm>
          <a:prstGeom prst="rect">
            <a:avLst/>
          </a:prstGeom>
          <a:solidFill>
            <a:srgbClr val="132A4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 Table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49631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the Public Subnet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0" y="30632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3392424"/>
            <a:ext cx="4800600" cy="0"/>
          </a:xfrm>
          <a:prstGeom prst="line">
            <a:avLst/>
          </a:prstGeom>
          <a:noFill/>
          <a:ln w="12700">
            <a:solidFill>
              <a:srgbClr val="E4E9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10.0.0.0/16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904488"/>
            <a:ext cx="4800600" cy="0"/>
          </a:xfrm>
          <a:prstGeom prst="line">
            <a:avLst/>
          </a:prstGeom>
          <a:noFill/>
          <a:ln w="12700">
            <a:solidFill>
              <a:srgbClr val="F0F3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59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959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 Gateway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12700">
            <a:solidFill>
              <a:srgbClr val="F0F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507992"/>
            <a:ext cx="4800600" cy="1389888"/>
          </a:xfrm>
          <a:prstGeom prst="roundRect">
            <a:avLst>
              <a:gd name="adj" fmla="val 3289"/>
            </a:avLst>
          </a:prstGeom>
          <a:solidFill>
            <a:srgbClr val="E3EAF4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507992"/>
            <a:ext cx="44348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to the internet is routed straight to the IGW — this subnet is directly reachable, so only the NAT Gateway and the bastion EC2 live here.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210312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21031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CC7A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2487168"/>
            <a:ext cx="5440680" cy="393192"/>
          </a:xfrm>
          <a:prstGeom prst="rect">
            <a:avLst/>
          </a:prstGeom>
          <a:solidFill>
            <a:srgbClr val="CC7A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1945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Route Table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249631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 with the Private Subnet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92240" y="30632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915400" y="30632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3392424"/>
            <a:ext cx="4800600" cy="0"/>
          </a:xfrm>
          <a:prstGeom prst="line">
            <a:avLst/>
          </a:prstGeom>
          <a:noFill/>
          <a:ln w="12700">
            <a:solidFill>
              <a:srgbClr val="E4E9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10.0.0.0/16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1540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0" y="3904488"/>
            <a:ext cx="4800600" cy="0"/>
          </a:xfrm>
          <a:prstGeom prst="line">
            <a:avLst/>
          </a:prstGeom>
          <a:noFill/>
          <a:ln w="12700">
            <a:solidFill>
              <a:srgbClr val="F0F3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959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15400" y="39593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 Gateway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4343400"/>
            <a:ext cx="4800600" cy="0"/>
          </a:xfrm>
          <a:prstGeom prst="line">
            <a:avLst/>
          </a:prstGeom>
          <a:noFill/>
          <a:ln w="12700">
            <a:solidFill>
              <a:srgbClr val="F0F3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507992"/>
            <a:ext cx="4800600" cy="1389888"/>
          </a:xfrm>
          <a:prstGeom prst="roundRect">
            <a:avLst>
              <a:gd name="adj" fmla="val 3289"/>
            </a:avLst>
          </a:prstGeom>
          <a:solidFill>
            <a:srgbClr val="FCEFE3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4507992"/>
            <a:ext cx="44348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to the internet is routed to the NAT Gateway instead of an IGW — outbound requests go out, but nothing from the internet can initiate a connection in.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Group Design — Bastion Pattern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add a second, independent layer of defense on top of routing — each references the other by group ID rather than by IP range, so access stays scoped even if IPs change.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2316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PublicSG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715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PublicEC2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RULES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68680" y="3547872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E3EAF4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(22)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88920" y="35478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(0.0.0.0/0)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4169664"/>
            <a:ext cx="4480560" cy="502920"/>
          </a:xfrm>
          <a:prstGeom prst="roundRect">
            <a:avLst>
              <a:gd name="adj" fmla="val 9091"/>
            </a:avLst>
          </a:prstGeom>
          <a:solidFill>
            <a:srgbClr val="E3EAF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696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ICMP IPv4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88920" y="41696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(0.0.0.0/0)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492861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bastion / jump host — the only instance the outside world can reach directly.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14884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01600" dist="25400" dir="5400000" algn="bl" rotWithShape="0">
              <a:srgbClr val="132A46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242316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CC7A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242316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PrivateSG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2715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PrivateEC2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32004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RULES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547872"/>
            <a:ext cx="4663440" cy="502920"/>
          </a:xfrm>
          <a:prstGeom prst="roundRect">
            <a:avLst>
              <a:gd name="adj" fmla="val 9091"/>
            </a:avLst>
          </a:prstGeom>
          <a:solidFill>
            <a:srgbClr val="FCEFE3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5478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(22)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95360" y="35478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— Source: PublicSG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75120" y="4169664"/>
            <a:ext cx="4663440" cy="502920"/>
          </a:xfrm>
          <a:prstGeom prst="roundRect">
            <a:avLst>
              <a:gd name="adj" fmla="val 9091"/>
            </a:avLst>
          </a:prstGeom>
          <a:solidFill>
            <a:srgbClr val="FCEFE3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16966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C7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ICMP IPv4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95360" y="416966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— Source: PublicSG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75120" y="492861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accepts SSH/ICMP that originates from PublicSG — never directly from the internet.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2651760"/>
            <a:ext cx="685800" cy="0"/>
          </a:xfrm>
          <a:prstGeom prst="line">
            <a:avLst/>
          </a:prstGeom>
          <a:noFill/>
          <a:ln w="25400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532120" y="22860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Build,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27632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VPC — myVPC, 10.0.0.0/16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48640" y="211683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1683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208940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Public Subnet — 10.0.1.0/24 (ap-south-1a)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6060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257860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Private Subnet — 10.0.2.0/24 (ap-south-1b)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48640" y="309524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095244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5840" y="30678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attach Internet Gateway — myIGW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48640" y="35844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584448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355701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Public Route Table -&gt; IGW, associate Public Subnet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48640" y="407365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073652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40462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Private Route Table -&gt; local only, associate Private Subnet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56285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453542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auto-assign public IPv4 on Public Subnet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548640" y="505206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505206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05840" y="50246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an Elastic IP address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548640" y="554126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5541264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55138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NAT Gateway in Public Subnet with the Elastic IP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6263640" y="162763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1627632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20840" y="16002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0.0.0.0/0 -&gt; NAT Gateway route to Private Route Table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263640" y="211683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63640" y="211683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20840" y="208940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PrivateEC2 — no public IP, PrivateSG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6263640" y="260604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63640" y="260604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20840" y="257860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PublicEC2 — public IP, PublicSG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6263640" y="309524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63640" y="3095244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20840" y="306781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PublicEC2 via EC2 Instance Connect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6263640" y="3584448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63640" y="3584448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720840" y="355701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key file &amp; set chmod 400 permissions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6263640" y="4073652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263640" y="4073652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20840" y="40462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into PrivateEC2 from PublicEC2 (bastion hop)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6263640" y="4562856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263640" y="4562856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20840" y="453542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outbound: ping google.com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6263640" y="5052060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4A6FA5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263640" y="5052060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720840" y="50246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outbound: sudo yum update / install httpd</a:t>
            </a:r>
            <a:endParaRPr lang="en-US" sz="1130" dirty="0"/>
          </a:p>
        </p:txBody>
      </p:sp>
      <p:sp>
        <p:nvSpPr>
          <p:cNvPr id="55" name="Shape 53"/>
          <p:cNvSpPr/>
          <p:nvPr/>
        </p:nvSpPr>
        <p:spPr>
          <a:xfrm>
            <a:off x="6263640" y="5541264"/>
            <a:ext cx="329184" cy="329184"/>
          </a:xfrm>
          <a:prstGeom prst="roundRect">
            <a:avLst>
              <a:gd name="adj" fmla="val 25000"/>
            </a:avLst>
          </a:prstGeom>
          <a:solidFill>
            <a:srgbClr val="132A46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63640" y="5541264"/>
            <a:ext cx="32918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720840" y="55138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inbound SSH from local machine times out</a:t>
            </a:r>
            <a:endParaRPr lang="en-US" sz="1130" dirty="0"/>
          </a:p>
        </p:txBody>
      </p:sp>
      <p:sp>
        <p:nvSpPr>
          <p:cNvPr id="58" name="Text 5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 — Live Console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0D1D33"/>
          </a:solidFill>
          <a:ln/>
          <a:effectLst>
            <a:outerShdw blurRad="76200" dist="25400" dir="5400000" algn="bl" rotWithShape="0">
              <a:srgbClr val="132A4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55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E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828800" y="17373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Reachability — ping google.com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5038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ICMP routed via the NAT Gateway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630" y="2249424"/>
            <a:ext cx="4398699" cy="1481328"/>
          </a:xfrm>
          <a:prstGeom prst="rect">
            <a:avLst/>
          </a:prstGeom>
          <a:solidFill>
            <a:srgbClr val="0A1626"/>
          </a:solidFill>
          <a:ln w="12700">
            <a:solidFill>
              <a:srgbClr val="2B3F58"/>
            </a:solidFill>
            <a:prstDash val="solid"/>
          </a:ln>
        </p:spPr>
      </p:sp>
      <p:pic>
        <p:nvPicPr>
          <p:cNvPr id="9" name="Image 0" descr="shot_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494" y="2304288"/>
            <a:ext cx="4288971" cy="1371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72200" y="1627632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0D1D33"/>
          </a:solidFill>
          <a:ln/>
          <a:effectLst>
            <a:outerShdw blurRad="76200" dist="25400" dir="5400000" algn="bl" rotWithShape="0">
              <a:srgbClr val="132A46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73368" y="17556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E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52360" y="17373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Repo Sync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73368" y="1993392"/>
            <a:ext cx="5038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yum update -y completes successfully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18504" y="2595163"/>
            <a:ext cx="5148072" cy="789850"/>
          </a:xfrm>
          <a:prstGeom prst="rect">
            <a:avLst/>
          </a:prstGeom>
          <a:solidFill>
            <a:srgbClr val="0A1626"/>
          </a:solidFill>
          <a:ln w="12700">
            <a:solidFill>
              <a:srgbClr val="2B3F58"/>
            </a:solidFill>
            <a:prstDash val="solid"/>
          </a:ln>
        </p:spPr>
      </p:sp>
      <p:pic>
        <p:nvPicPr>
          <p:cNvPr id="15" name="Image 1" descr="shot_y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2650027"/>
            <a:ext cx="5038344" cy="68012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" y="4041648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0D1D33"/>
          </a:solidFill>
          <a:ln/>
          <a:effectLst>
            <a:outerShdw blurRad="76200" dist="25400" dir="5400000" algn="bl" rotWithShape="0">
              <a:srgbClr val="132A46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49808" y="41696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E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1828800" y="415137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Install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49808" y="4407408"/>
            <a:ext cx="5038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yum install httpd -y completes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94944" y="4892868"/>
            <a:ext cx="5148072" cy="1022471"/>
          </a:xfrm>
          <a:prstGeom prst="rect">
            <a:avLst/>
          </a:prstGeom>
          <a:solidFill>
            <a:srgbClr val="0A1626"/>
          </a:solidFill>
          <a:ln w="12700">
            <a:solidFill>
              <a:srgbClr val="2B3F58"/>
            </a:solidFill>
            <a:prstDash val="solid"/>
          </a:ln>
        </p:spPr>
      </p:sp>
      <p:pic>
        <p:nvPicPr>
          <p:cNvPr id="21" name="Image 2" descr="shot_http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47732"/>
            <a:ext cx="5038344" cy="91274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172200" y="4041648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0D1D33"/>
          </a:solidFill>
          <a:ln/>
          <a:effectLst>
            <a:outerShdw blurRad="76200" dist="25400" dir="5400000" algn="bl" rotWithShape="0">
              <a:srgbClr val="132A46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373368" y="41696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4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452360" y="415137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Isolation Confirmed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373368" y="4407408"/>
            <a:ext cx="50383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SSH from the internet times out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318504" y="4718143"/>
            <a:ext cx="5148072" cy="1371922"/>
          </a:xfrm>
          <a:prstGeom prst="rect">
            <a:avLst/>
          </a:prstGeom>
          <a:solidFill>
            <a:srgbClr val="0A1626"/>
          </a:solidFill>
          <a:ln w="12700">
            <a:solidFill>
              <a:srgbClr val="2B3F58"/>
            </a:solidFill>
            <a:prstDash val="solid"/>
          </a:ln>
        </p:spPr>
      </p:sp>
      <p:pic>
        <p:nvPicPr>
          <p:cNvPr id="27" name="Image 3" descr="shot_bloc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4773007"/>
            <a:ext cx="5038344" cy="126219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E7D32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1810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Internet Access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810512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PrivateEC2 successfully pinged external hosts and ran yum update/install through the NAT Gateway.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35808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E7D32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035808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Exposure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49240" y="2926080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PrivateEC2 was launched with auto-assign public IP disabled — it holds only a private 10.0.2.x address.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51376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E7D32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151376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0416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Isolation Verified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4041648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SSH attempt from a local machine to PrivateEC2 over the internet timed out, as expected.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48640" y="5038344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26694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E7D32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51572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Security Enforced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5157216"/>
            <a:ext cx="6080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 control the network path; PublicSG/PrivateSG independently control access at the instance level.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Skills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756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&amp; Subnet Design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53288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non-overlapping CIDR blocks and mapped subnets to availability zones with intent.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2024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0756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Fundamentals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53288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route tables — not security groups — determine whether a subnet is public or private.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2024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0756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vs. Internet Gateway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75320" y="253288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practical difference: IGW enables two-way access, NAT Gateway enables outbound-only access.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93192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873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Security Design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5445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routing-level and security-group-level controls, referencing groups instead of hardcoded IPs.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297680" y="370332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393192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132A46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0873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 Pattern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45445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public instance as a controlled jump host to reach a fully private resource via SSH.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046720" y="3703320"/>
            <a:ext cx="361188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762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3931920"/>
            <a:ext cx="411480" cy="7315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0873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Validation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75320" y="4544568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design worked with real evidence — successful outbound tests and a confirmed inbound timeout.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132A46"/>
          </a:solidFill>
          <a:ln/>
          <a:effectLst>
            <a:outerShdw blurRad="127000" dist="381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5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production-style networking pattern: a VPC with clearly separated public and private tiers, where the private tier gets outbound internet access through a NAT Gateway without ever being directly exposed.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isolation pattern used in real production AWS environments to protect databases, internal services, and application servers.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4709160"/>
            <a:ext cx="4754880" cy="0"/>
          </a:xfrm>
          <a:prstGeom prst="line">
            <a:avLst/>
          </a:prstGeom>
          <a:noFill/>
          <a:ln w="12700">
            <a:solidFill>
              <a:srgbClr val="2B44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92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 •  t3.micro  •  ap-south-1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Asia Pacific (Mumbai)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635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91109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9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911096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95160" y="178308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with Infrastructure as Code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95160" y="207568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 this VPC using AWS CloudFormation or Terraform for repeatable, version-controlled deployments.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172200" y="274320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635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9626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9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962656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95160" y="283464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Multi-AZ NAT for High Availability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95160" y="312724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NAT Gateway per availability zone so a single AZ outage doesn't take down outbound connectivity.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172200" y="379476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635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401421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9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0" y="4014216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95160" y="388620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Review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95160" y="417880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NAT Gateway hourly + data-processing charges against a self-managed NAT instance for lower-traffic workloads.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172200" y="484632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63500" dist="25400" dir="5400000" algn="bl" rotWithShape="0">
              <a:srgbClr val="132A46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0" y="5065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F9900"/>
          </a:solidFill>
          <a:ln/>
          <a:effectLst>
            <a:outerShdw blurRad="76200" dist="25400" dir="5400000" algn="bl" rotWithShape="0">
              <a:srgbClr val="132A46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5065776"/>
            <a:ext cx="457200" cy="4572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95160" y="493776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Monitoring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95160" y="5230368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VPC Flow Logs and CloudWatch alarms to observe NAT Gateway traffic and detect anomalies.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PROJECT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36415" cy="6858000"/>
          </a:xfrm>
          <a:prstGeom prst="rect">
            <a:avLst/>
          </a:prstGeom>
          <a:solidFill>
            <a:srgbClr val="132A46"/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548640" y="548640"/>
            <a:ext cx="1188720" cy="36576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37360" y="548640"/>
            <a:ext cx="1097280" cy="73152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14400"/>
            <a:ext cx="274320" cy="118872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1463040" cy="36576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548640"/>
            <a:ext cx="548640" cy="192024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03120"/>
            <a:ext cx="457200" cy="128016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468880"/>
            <a:ext cx="731520" cy="109728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40080" y="3383280"/>
            <a:ext cx="640080" cy="109728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011680" y="3566160"/>
            <a:ext cx="1005840" cy="128016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3383280"/>
            <a:ext cx="731520" cy="146304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480560"/>
            <a:ext cx="731520" cy="128016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4846320"/>
            <a:ext cx="1097280" cy="1005840"/>
          </a:xfrm>
          <a:prstGeom prst="line">
            <a:avLst/>
          </a:prstGeom>
          <a:noFill/>
          <a:ln w="12700">
            <a:solidFill>
              <a:srgbClr val="4A6FA5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86868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1640" y="50292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88920" y="123444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05740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240280" y="242316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234440" y="333756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1800" y="352044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443484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965960" y="480060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571500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Shape 23"/>
          <p:cNvSpPr/>
          <p:nvPr/>
        </p:nvSpPr>
        <p:spPr>
          <a:xfrm>
            <a:off x="3063240" y="5806440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54880" y="26974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754880" y="33832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for Secure Private Subnet Internet Access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4160520"/>
            <a:ext cx="100584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297679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1606</Words>
  <Application>Microsoft Office PowerPoint</Application>
  <PresentationFormat>Widescreen</PresentationFormat>
  <Paragraphs>320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Prashant Sharma</cp:lastModifiedBy>
  <cp:revision>4</cp:revision>
  <dcterms:created xsi:type="dcterms:W3CDTF">2026-08-22T05:16:46Z</dcterms:created>
  <dcterms:modified xsi:type="dcterms:W3CDTF">2026-09-04T05:11:57Z</dcterms:modified>
</cp:coreProperties>
</file>